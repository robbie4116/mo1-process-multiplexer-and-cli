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39410a6e4a4752" /><Relationship Type="http://schemas.openxmlformats.org/officeDocument/2006/relationships/extended-properties" Target="/docProps/app.xml" Id="Rcac337f090cc403b" /><Relationship Type="http://schemas.openxmlformats.org/officeDocument/2006/relationships/officeDocument" Target="/ppt/presentation.xml" Id="Rfbecf5ae26a04f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4d8ee12bd43e8"/>
  </p:sldMasterIdLst>
  <p:notesMasterIdLst>
    <p:notesMasterId xmlns:r="http://schemas.openxmlformats.org/officeDocument/2006/relationships" r:id="R2b1fbed71bbf4c8d"/>
  </p:notesMasterIdLst>
  <p:sldIdLst>
    <p:sldId xmlns:r="http://schemas.openxmlformats.org/officeDocument/2006/relationships" id="256" r:id="R1692f48733a14f63"/>
    <p:sldId xmlns:r="http://schemas.openxmlformats.org/officeDocument/2006/relationships" id="257" r:id="R24b29ef460d94f74"/>
    <p:sldId xmlns:r="http://schemas.openxmlformats.org/officeDocument/2006/relationships" id="258" r:id="R661afadd65f94be0"/>
    <p:sldId xmlns:r="http://schemas.openxmlformats.org/officeDocument/2006/relationships" id="259" r:id="Rad1c78888c314b36"/>
    <p:sldId xmlns:r="http://schemas.openxmlformats.org/officeDocument/2006/relationships" id="260" r:id="R226830ab786d449b"/>
    <p:sldId xmlns:r="http://schemas.openxmlformats.org/officeDocument/2006/relationships" id="261" r:id="Rec8b00d23cc04e6e"/>
    <p:sldId xmlns:r="http://schemas.openxmlformats.org/officeDocument/2006/relationships" id="262" r:id="Ra345e3475a1446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abdbaff7044336" /><Relationship Type="http://schemas.openxmlformats.org/officeDocument/2006/relationships/slideMaster" Target="/ppt/slideMasters/slideMaster1.xml" Id="Rd7a4d8ee12bd43e8" /><Relationship Type="http://schemas.openxmlformats.org/officeDocument/2006/relationships/notesMaster" Target="/ppt/notesMasters/notesMaster1.xml" Id="R2b1fbed71bbf4c8d" /><Relationship Type="http://schemas.openxmlformats.org/officeDocument/2006/relationships/presProps" Target="/ppt/presProps.xml" Id="R21e38da9f3744e0d" /><Relationship Type="http://schemas.openxmlformats.org/officeDocument/2006/relationships/tableStyles" Target="/ppt/tableStyles.xml" Id="R67bed49e1b9a4a3f" /><Relationship Type="http://schemas.openxmlformats.org/officeDocument/2006/relationships/slide" Target="/ppt/slides/slide1.xml" Id="R1692f48733a14f63" /><Relationship Type="http://schemas.openxmlformats.org/officeDocument/2006/relationships/slide" Target="/ppt/slides/slide2.xml" Id="R24b29ef460d94f74" /><Relationship Type="http://schemas.openxmlformats.org/officeDocument/2006/relationships/slide" Target="/ppt/slides/slide3.xml" Id="R661afadd65f94be0" /><Relationship Type="http://schemas.openxmlformats.org/officeDocument/2006/relationships/slide" Target="/ppt/slides/slide4.xml" Id="Rad1c78888c314b36" /><Relationship Type="http://schemas.openxmlformats.org/officeDocument/2006/relationships/slide" Target="/ppt/slides/slide5.xml" Id="R226830ab786d449b" /><Relationship Type="http://schemas.openxmlformats.org/officeDocument/2006/relationships/slide" Target="/ppt/slides/slide6.xml" Id="Rec8b00d23cc04e6e" /><Relationship Type="http://schemas.openxmlformats.org/officeDocument/2006/relationships/slide" Target="/ppt/slides/slide7.xml" Id="Ra345e3475a1446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d631dc618f4f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f3b02372a14c59" /><Relationship Type="http://schemas.openxmlformats.org/officeDocument/2006/relationships/notesMaster" Target="/ppt/notesMasters/notesMaster1.xml" Id="R9d8f2c455a1843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76146426ee447d" /><Relationship Type="http://schemas.openxmlformats.org/officeDocument/2006/relationships/notesMaster" Target="/ppt/notesMasters/notesMaster1.xml" Id="Rba4086fad37e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6a9de345214fc6" /><Relationship Type="http://schemas.openxmlformats.org/officeDocument/2006/relationships/notesMaster" Target="/ppt/notesMasters/notesMaster1.xml" Id="R6c9b21396c584b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3cc69e2ada4f40" /><Relationship Type="http://schemas.openxmlformats.org/officeDocument/2006/relationships/notesMaster" Target="/ppt/notesMasters/notesMaster1.xml" Id="R1bd978263f5f4b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badb8dbf4c467b" /><Relationship Type="http://schemas.openxmlformats.org/officeDocument/2006/relationships/notesMaster" Target="/ppt/notesMasters/notesMaster1.xml" Id="Rdf923e0c750546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7ad7499af2477b" /><Relationship Type="http://schemas.openxmlformats.org/officeDocument/2006/relationships/notesMaster" Target="/ppt/notesMasters/notesMaster1.xml" Id="R120fedd2c7f04c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08837121754e4c" /><Relationship Type="http://schemas.openxmlformats.org/officeDocument/2006/relationships/notesMaster" Target="/ppt/notesMasters/notesMaster1.xml" Id="Rffed9e0c7bec4b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374fd29014a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3c0c9023d401d" /><Relationship Type="http://schemas.openxmlformats.org/officeDocument/2006/relationships/slideLayout" Target="/ppt/slideLayouts/slideLayout1.xml" Id="Ra2d8f718f07d40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d8f718f07d40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569052f2e455b" /><Relationship Type="http://schemas.openxmlformats.org/officeDocument/2006/relationships/notesSlide" Target="/ppt/notesSlides/notesSlide1.xml" Id="Rb7c3d7e236bc47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79272301f4aec" /><Relationship Type="http://schemas.openxmlformats.org/officeDocument/2006/relationships/notesSlide" Target="/ppt/notesSlides/notesSlide2.xml" Id="Rdb56e4295d7947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6a2cc9a854c34" /><Relationship Type="http://schemas.openxmlformats.org/officeDocument/2006/relationships/notesSlide" Target="/ppt/notesSlides/notesSlide3.xml" Id="R1f840acb4db04b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1d802027a4e6f" /><Relationship Type="http://schemas.openxmlformats.org/officeDocument/2006/relationships/notesSlide" Target="/ppt/notesSlides/notesSlide4.xml" Id="R7e1e1f19568943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fa80a0be54666" /><Relationship Type="http://schemas.openxmlformats.org/officeDocument/2006/relationships/notesSlide" Target="/ppt/notesSlides/notesSlide5.xml" Id="Rd0135f82bb5249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73cb0a9ff483e" /><Relationship Type="http://schemas.openxmlformats.org/officeDocument/2006/relationships/notesSlide" Target="/ppt/notesSlides/notesSlide6.xml" Id="Rf11f7ce56e0149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7097c3ed140bb" /><Relationship Type="http://schemas.openxmlformats.org/officeDocument/2006/relationships/notesSlide" Target="/ppt/notesSlides/notesSlide7.xml" Id="Rc7db55fa88e64c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bar">
            <a:extLst xmlns:a="http://schemas.openxmlformats.org/drawingml/2006/main">
              <a:ext uri="{FF2B5EF4-FFF2-40B4-BE49-F238E27FC236}">
                <a16:creationId xmlns:a16="http://schemas.microsoft.com/office/drawing/2014/main" id="{60779C40-D9BA-4569-9641-12E8C3B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430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D5144DE-1DD3-4BD9-A732-6C118DC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810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CSOPESY MAJOR OUTPUT 1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30F4CDB-F568-4E4B-BEDE-DA21D0BE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09700"/>
            <a:ext cx="714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Process Scheduler</a:t>
            </a:r>
          </a:p>
          <a:p xmlns:a="http://schemas.openxmlformats.org/drawingml/2006/main">
            <a:pPr algn="l">
              <a:defRPr sz="5700" b="1">
                <a:solidFill>
                  <a:srgbClr val="111111"/>
                </a:solidFill>
              </a:defRPr>
            </a:pPr>
            <a:r>
              <a:rPr sz="5700" b="1">
                <a:solidFill>
                  <a:srgbClr val="111111"/>
                </a:solidFill>
              </a:rPr>
              <a:t>and CLI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7617928-A8B7-4585-8555-FDA9000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Technical report • C++17 multi-core scheduler emulator</a:t>
            </a:r>
          </a:p>
        </p:txBody>
      </p:sp>
      <p:sp>
        <p:nvSpPr>
          <p:cNvPr id="5" name="team-panel">
            <a:extLst xmlns:a="http://schemas.openxmlformats.org/drawingml/2006/main">
              <a:ext uri="{FF2B5EF4-FFF2-40B4-BE49-F238E27FC236}">
                <a16:creationId xmlns:a16="http://schemas.microsoft.com/office/drawing/2014/main" id="{C2D0729F-63D0-472E-9AE9-1C55AE96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52550"/>
            <a:ext cx="3143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am-label">
            <a:extLst xmlns:a="http://schemas.openxmlformats.org/drawingml/2006/main">
              <a:ext uri="{FF2B5EF4-FFF2-40B4-BE49-F238E27FC236}">
                <a16:creationId xmlns:a16="http://schemas.microsoft.com/office/drawing/2014/main" id="{19FEC824-56CC-4040-AFF6-86D18E97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572E"/>
                </a:solidFill>
              </a:defRPr>
            </a:pPr>
            <a:r>
              <a:rPr sz="1275" b="1">
                <a:solidFill>
                  <a:srgbClr val="E4572E"/>
                </a:solidFill>
              </a:rPr>
              <a:t>TEAM</a:t>
            </a:r>
          </a:p>
        </p:txBody>
      </p:sp>
      <p:sp>
        <p:nvSpPr>
          <p:cNvPr id="7" name="team-members">
            <a:extLst xmlns:a="http://schemas.openxmlformats.org/drawingml/2006/main">
              <a:ext uri="{FF2B5EF4-FFF2-40B4-BE49-F238E27FC236}">
                <a16:creationId xmlns:a16="http://schemas.microsoft.com/office/drawing/2014/main" id="{1C6683A5-5B5D-4903-970D-49AB57AE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Jeff Cumti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Rain Dulatre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Joanna Hong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Robbie Pineda</a:t>
            </a:r>
          </a:p>
        </p:txBody>
      </p:sp>
      <p:sp>
        <p:nvSpPr>
          <p:cNvPr id="8" name="date">
            <a:extLst xmlns:a="http://schemas.openxmlformats.org/drawingml/2006/main">
              <a:ext uri="{FF2B5EF4-FFF2-40B4-BE49-F238E27FC236}">
                <a16:creationId xmlns:a16="http://schemas.microsoft.com/office/drawing/2014/main" id="{CA07D759-D9F3-4FE2-AAE0-BFD2A93C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4142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C32AC46-3940-4F51-80BF-8B0EC1F1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572E"/>
                </a:solidFill>
              </a:defRPr>
            </a:pPr>
            <a:r>
              <a:rPr sz="1200" b="1">
                <a:solidFill>
                  <a:srgbClr val="E4572E"/>
                </a:solidFill>
              </a:rPr>
              <a:t>CLI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2D76A-1469-4CCB-8D2D-D80DD232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Command recognition</a:t>
            </a:r>
          </a:p>
        </p:txBody>
      </p:sp>
      <p:sp>
        <p:nvSpPr>
          <p:cNvPr id="3" name="rule-157">
            <a:extLst xmlns:a="http://schemas.openxmlformats.org/drawingml/2006/main">
              <a:ext uri="{FF2B5EF4-FFF2-40B4-BE49-F238E27FC236}">
                <a16:creationId xmlns:a16="http://schemas.microsoft.com/office/drawing/2014/main" id="{BE822D36-44E5-42A5-9FF7-0A011B17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panel">
            <a:extLst xmlns:a="http://schemas.openxmlformats.org/drawingml/2006/main">
              <a:ext uri="{FF2B5EF4-FFF2-40B4-BE49-F238E27FC236}">
                <a16:creationId xmlns:a16="http://schemas.microsoft.com/office/drawing/2014/main" id="{D23D6BB5-F7AF-4277-9126-A800D9C1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85775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ate-title">
            <a:extLst xmlns:a="http://schemas.openxmlformats.org/drawingml/2006/main">
              <a:ext uri="{FF2B5EF4-FFF2-40B4-BE49-F238E27FC236}">
                <a16:creationId xmlns:a16="http://schemas.microsoft.com/office/drawing/2014/main" id="{C9E7D163-CA6E-4BDE-970A-23E3AAC1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Initialization gate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4A896B34-18AC-493B-99FC-EF79D71E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7B5BCB6-F637-4F52-890F-FEF133AC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377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Before initialization, only initialize and exit are accepted.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2FC7FDA-CEBC-4A57-8A7E-54EEFDE6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EA20629-9DE0-4E8A-9DB1-6E362116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377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initialize validates every config.txt parameter before starting.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A0AB4B1E-CA10-4A4C-988A-CDB42C31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6915FE6-9A84-4791-97DD-7185EA7D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377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Unknown commands receive a clear user-facing response.</a:t>
            </a:r>
          </a:p>
        </p:txBody>
      </p:sp>
      <p:sp>
        <p:nvSpPr>
          <p:cNvPr id="12" name="commands-title">
            <a:extLst xmlns:a="http://schemas.openxmlformats.org/drawingml/2006/main">
              <a:ext uri="{FF2B5EF4-FFF2-40B4-BE49-F238E27FC236}">
                <a16:creationId xmlns:a16="http://schemas.microsoft.com/office/drawing/2014/main" id="{DBA9FC92-35A1-4EE6-A62E-652059C8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Recognized main-menu commands</a:t>
            </a:r>
          </a:p>
        </p:txBody>
      </p:sp>
      <p:sp>
        <p:nvSpPr>
          <p:cNvPr id="13" name="command-0">
            <a:extLst xmlns:a="http://schemas.openxmlformats.org/drawingml/2006/main">
              <a:ext uri="{FF2B5EF4-FFF2-40B4-BE49-F238E27FC236}">
                <a16:creationId xmlns:a16="http://schemas.microsoft.com/office/drawing/2014/main" id="{B8F1060A-D02F-4985-9902-1F3423D6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289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mand-text-0">
            <a:extLst xmlns:a="http://schemas.openxmlformats.org/drawingml/2006/main">
              <a:ext uri="{FF2B5EF4-FFF2-40B4-BE49-F238E27FC236}">
                <a16:creationId xmlns:a16="http://schemas.microsoft.com/office/drawing/2014/main" id="{897FEFF6-9D5C-4A45-A5F6-8FB5223C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336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screen -s / -r / -ls</a:t>
            </a:r>
          </a:p>
        </p:txBody>
      </p:sp>
      <p:sp>
        <p:nvSpPr>
          <p:cNvPr id="15" name="command-1">
            <a:extLst xmlns:a="http://schemas.openxmlformats.org/drawingml/2006/main">
              <a:ext uri="{FF2B5EF4-FFF2-40B4-BE49-F238E27FC236}">
                <a16:creationId xmlns:a16="http://schemas.microsoft.com/office/drawing/2014/main" id="{99EE6462-99B4-4050-8C10-E80D1319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mand-text-1">
            <a:extLst xmlns:a="http://schemas.openxmlformats.org/drawingml/2006/main">
              <a:ext uri="{FF2B5EF4-FFF2-40B4-BE49-F238E27FC236}">
                <a16:creationId xmlns:a16="http://schemas.microsoft.com/office/drawing/2014/main" id="{A546314C-202C-4769-B0C7-CE192B39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623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scheduler-start</a:t>
            </a:r>
          </a:p>
        </p:txBody>
      </p:sp>
      <p:sp>
        <p:nvSpPr>
          <p:cNvPr id="17" name="command-2">
            <a:extLst xmlns:a="http://schemas.openxmlformats.org/drawingml/2006/main">
              <a:ext uri="{FF2B5EF4-FFF2-40B4-BE49-F238E27FC236}">
                <a16:creationId xmlns:a16="http://schemas.microsoft.com/office/drawing/2014/main" id="{0A3FC6E3-E5AB-407B-8F0A-7051B137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mand-text-2">
            <a:extLst xmlns:a="http://schemas.openxmlformats.org/drawingml/2006/main">
              <a:ext uri="{FF2B5EF4-FFF2-40B4-BE49-F238E27FC236}">
                <a16:creationId xmlns:a16="http://schemas.microsoft.com/office/drawing/2014/main" id="{C9B02EF5-E89F-4F01-830A-94395254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909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scheduler-stop</a:t>
            </a:r>
          </a:p>
        </p:txBody>
      </p:sp>
      <p:sp>
        <p:nvSpPr>
          <p:cNvPr id="19" name="command-3">
            <a:extLst xmlns:a="http://schemas.openxmlformats.org/drawingml/2006/main">
              <a:ext uri="{FF2B5EF4-FFF2-40B4-BE49-F238E27FC236}">
                <a16:creationId xmlns:a16="http://schemas.microsoft.com/office/drawing/2014/main" id="{8099C939-79D2-4D8D-B79B-C52F7C80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mand-text-3">
            <a:extLst xmlns:a="http://schemas.openxmlformats.org/drawingml/2006/main">
              <a:ext uri="{FF2B5EF4-FFF2-40B4-BE49-F238E27FC236}">
                <a16:creationId xmlns:a16="http://schemas.microsoft.com/office/drawing/2014/main" id="{271262AB-FA7A-4917-ABC3-569D8555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96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report-util</a:t>
            </a:r>
          </a:p>
        </p:txBody>
      </p:sp>
      <p:sp>
        <p:nvSpPr>
          <p:cNvPr id="21" name="command-4">
            <a:extLst xmlns:a="http://schemas.openxmlformats.org/drawingml/2006/main">
              <a:ext uri="{FF2B5EF4-FFF2-40B4-BE49-F238E27FC236}">
                <a16:creationId xmlns:a16="http://schemas.microsoft.com/office/drawing/2014/main" id="{B8F7B8A1-6172-4A97-87DE-D50B7B8B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43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mand-text-4">
            <a:extLst xmlns:a="http://schemas.openxmlformats.org/drawingml/2006/main">
              <a:ext uri="{FF2B5EF4-FFF2-40B4-BE49-F238E27FC236}">
                <a16:creationId xmlns:a16="http://schemas.microsoft.com/office/drawing/2014/main" id="{28A5A8FB-8237-4120-9F92-936358FE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482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exit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041E876F-6645-403D-B6FA-5472D707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CSOPESY MO1  •  2</a:t>
            </a:r>
          </a:p>
        </p:txBody>
      </p:sp>
    </p:spTree>
    <p:extLst>
      <p:ext uri="{BB962C8B-B14F-4D97-AF65-F5344CB8AC3E}">
        <p14:creationId xmlns:p14="http://schemas.microsoft.com/office/powerpoint/2010/main" val="1485317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6CB3554-9DC0-4229-933D-C016D945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572E"/>
                </a:solidFill>
              </a:defRPr>
            </a:pPr>
            <a:r>
              <a:rPr sz="1200" b="1">
                <a:solidFill>
                  <a:srgbClr val="E4572E"/>
                </a:solidFill>
              </a:rPr>
              <a:t>INTERFACE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35765F-C96A-40CD-B145-F0C393C7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Console UI implementation</a:t>
            </a:r>
          </a:p>
        </p:txBody>
      </p:sp>
      <p:sp>
        <p:nvSpPr>
          <p:cNvPr id="3" name="rule-157">
            <a:extLst xmlns:a="http://schemas.openxmlformats.org/drawingml/2006/main">
              <a:ext uri="{FF2B5EF4-FFF2-40B4-BE49-F238E27FC236}">
                <a16:creationId xmlns:a16="http://schemas.microsoft.com/office/drawing/2014/main" id="{6D32478B-8480-4B37-B7BF-A9CCB94D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sole">
            <a:extLst xmlns:a="http://schemas.openxmlformats.org/drawingml/2006/main">
              <a:ext uri="{FF2B5EF4-FFF2-40B4-BE49-F238E27FC236}">
                <a16:creationId xmlns:a16="http://schemas.microsoft.com/office/drawing/2014/main" id="{2727AA28-91AC-4E8C-BFDA-30A5AC37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6858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6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sole-text">
            <a:extLst xmlns:a="http://schemas.openxmlformats.org/drawingml/2006/main">
              <a:ext uri="{FF2B5EF4-FFF2-40B4-BE49-F238E27FC236}">
                <a16:creationId xmlns:a16="http://schemas.microsoft.com/office/drawing/2014/main" id="{0E4CD7CC-D726-4187-800D-73C6C57F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6191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7F7"/>
                </a:solidFill>
              </a:defRPr>
            </a:pPr>
            <a:r>
              <a:rPr sz="1650" b="0">
                <a:solidFill>
                  <a:srgbClr val="F7F7F7"/>
                </a:solidFill>
              </a:rPr>
              <a:t>root:\&gt; initialize</a:t>
            </a:r>
          </a:p>
          <a:p xmlns:a="http://schemas.openxmlformats.org/drawingml/2006/main">
            <a:pPr algn="l">
              <a:defRPr sz="1650" b="0">
                <a:solidFill>
                  <a:srgbClr val="F7F7F7"/>
                </a:solidFill>
              </a:defRPr>
            </a:pPr>
            <a:r>
              <a:rPr sz="1650" b="0">
                <a:solidFill>
                  <a:srgbClr val="F7F7F7"/>
                </a:solidFill>
              </a:rPr>
              <a:t>Initialized successfully.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7"/>
                </a:solidFill>
              </a:defRPr>
            </a:pPr>
            <a:r>
              <a:rPr sz="1650" b="0">
                <a:solidFill>
                  <a:srgbClr val="F7F7F7"/>
                </a:solidFill>
              </a:rPr>
              <a:t>root:\&gt; scheduler-start</a:t>
            </a:r>
          </a:p>
          <a:p xmlns:a="http://schemas.openxmlformats.org/drawingml/2006/main">
            <a:pPr algn="l">
              <a:defRPr sz="1650" b="0">
                <a:solidFill>
                  <a:srgbClr val="F7F7F7"/>
                </a:solidFill>
              </a:defRPr>
            </a:pPr>
            <a:r>
              <a:rPr sz="1650" b="0">
                <a:solidFill>
                  <a:srgbClr val="F7F7F7"/>
                </a:solidFill>
              </a:rPr>
              <a:t>Scheduler started.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7F7"/>
                </a:solidFill>
              </a:defRPr>
            </a:pPr>
            <a:r>
              <a:rPr sz="1650" b="0">
                <a:solidFill>
                  <a:srgbClr val="F7F7F7"/>
                </a:solidFill>
              </a:rPr>
              <a:t>root:\&gt; screen -ls</a:t>
            </a:r>
          </a:p>
          <a:p xmlns:a="http://schemas.openxmlformats.org/drawingml/2006/main">
            <a:pPr algn="l">
              <a:defRPr sz="1650" b="0">
                <a:solidFill>
                  <a:srgbClr val="F7F7F7"/>
                </a:solidFill>
              </a:defRPr>
            </a:pPr>
            <a:r>
              <a:rPr sz="1650" b="0">
                <a:solidFill>
                  <a:srgbClr val="F7F7F7"/>
                </a:solidFill>
              </a:rPr>
              <a:t>CPU utilization: 100%</a:t>
            </a:r>
          </a:p>
          <a:p xmlns:a="http://schemas.openxmlformats.org/drawingml/2006/main">
            <a:pPr algn="l">
              <a:defRPr sz="1650" b="0">
                <a:solidFill>
                  <a:srgbClr val="F7F7F7"/>
                </a:solidFill>
              </a:defRPr>
            </a:pPr>
            <a:r>
              <a:rPr sz="1650" b="0">
                <a:solidFill>
                  <a:srgbClr val="F7F7F7"/>
                </a:solidFill>
              </a:rPr>
              <a:t>Cores used: 4</a:t>
            </a:r>
          </a:p>
          <a:p xmlns:a="http://schemas.openxmlformats.org/drawingml/2006/main">
            <a:pPr algn="l">
              <a:defRPr sz="1650" b="0">
                <a:solidFill>
                  <a:srgbClr val="F7F7F7"/>
                </a:solidFill>
              </a:defRPr>
            </a:pPr>
            <a:r>
              <a:rPr sz="1650" b="0">
                <a:solidFill>
                  <a:srgbClr val="F7F7F7"/>
                </a:solidFill>
              </a:rPr>
              <a:t>Cores available: 0</a:t>
            </a:r>
          </a:p>
        </p:txBody>
      </p:sp>
      <p:sp>
        <p:nvSpPr>
          <p:cNvPr id="6" name="ui-callout">
            <a:extLst xmlns:a="http://schemas.openxmlformats.org/drawingml/2006/main">
              <a:ext uri="{FF2B5EF4-FFF2-40B4-BE49-F238E27FC236}">
                <a16:creationId xmlns:a16="http://schemas.microsoft.com/office/drawing/2014/main" id="{49BD9162-AB08-445C-B5CF-4F8CDD5F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Two console contexts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4F31E45A-242F-4571-BE31-89015F07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•</a:t>
            </a:r>
          </a:p>
        </p:txBody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9752B525-1794-4E31-A15A-96B20EB4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2819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Main menu controls configuration, scheduling, reports, and screen navigation.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5197D903-2414-4E8B-8743-F5771FC9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•</a:t>
            </a:r>
          </a:p>
        </p:txBody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15F74BAC-599D-4A0F-A72D-CFA7DB83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14750"/>
            <a:ext cx="2819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Process screens expose only process-smi and exit.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89476226-4211-4FD2-916F-752EB8EE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•</a:t>
            </a:r>
          </a:p>
        </p:txBody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587A28AB-79A1-4B64-BB6A-D39F8495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2819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Processes continue executing while users inspect their screens.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15D4D35-DD86-4A9D-B4D7-0DFD19FE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CSOPESY MO1  •  3</a:t>
            </a:r>
          </a:p>
        </p:txBody>
      </p:sp>
    </p:spTree>
    <p:extLst>
      <p:ext uri="{BB962C8B-B14F-4D97-AF65-F5344CB8AC3E}">
        <p14:creationId xmlns:p14="http://schemas.microsoft.com/office/powerpoint/2010/main" val="143017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17ED98B-CF3D-4420-B0E8-7199AAAD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572E"/>
                </a:solidFill>
              </a:defRPr>
            </a:pPr>
            <a:r>
              <a:rPr sz="1200" b="1">
                <a:solidFill>
                  <a:srgbClr val="E4572E"/>
                </a:solidFill>
              </a:rPr>
              <a:t>CONTROL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0D8063-53E7-4C82-A104-6CC02C1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Command interpreter implementation</a:t>
            </a:r>
          </a:p>
        </p:txBody>
      </p:sp>
      <p:sp>
        <p:nvSpPr>
          <p:cNvPr id="3" name="rule-157">
            <a:extLst xmlns:a="http://schemas.openxmlformats.org/drawingml/2006/main">
              <a:ext uri="{FF2B5EF4-FFF2-40B4-BE49-F238E27FC236}">
                <a16:creationId xmlns:a16="http://schemas.microsoft.com/office/drawing/2014/main" id="{3D7413D2-0B2E-4E99-BF10-EAD6E806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5121F236-CB83-4A87-9007-0C3CC63F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D69754E5-DDCD-493D-B56A-EE6A4CC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2E"/>
                </a:solidFill>
              </a:defRPr>
            </a:pPr>
            <a:r>
              <a:rPr sz="1650" b="1">
                <a:solidFill>
                  <a:srgbClr val="E4572E"/>
                </a:solidFill>
              </a:rPr>
              <a:t>READ</a:t>
            </a:r>
          </a:p>
        </p:txBody>
      </p:sp>
      <p:sp>
        <p:nvSpPr>
          <p:cNvPr id="6" name="stage-detail-0">
            <a:extLst xmlns:a="http://schemas.openxmlformats.org/drawingml/2006/main">
              <a:ext uri="{FF2B5EF4-FFF2-40B4-BE49-F238E27FC236}">
                <a16:creationId xmlns:a16="http://schemas.microsoft.com/office/drawing/2014/main" id="{83A1C469-C3EC-487D-BF6E-3C0BCDE9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962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getline reads one complete command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542DFBB5-F14B-4589-AF9D-974EE884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D4CD42C7-FBB3-410F-A33F-AC4E5631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E130DC1D-BFE0-44B1-999D-62BDC9FB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2E"/>
                </a:solidFill>
              </a:defRPr>
            </a:pPr>
            <a:r>
              <a:rPr sz="1650" b="1">
                <a:solidFill>
                  <a:srgbClr val="E4572E"/>
                </a:solidFill>
              </a:rPr>
              <a:t>NORMALIZE</a:t>
            </a:r>
          </a:p>
        </p:txBody>
      </p:sp>
      <p:sp>
        <p:nvSpPr>
          <p:cNvPr id="10" name="stage-detail-1">
            <a:extLst xmlns:a="http://schemas.openxmlformats.org/drawingml/2006/main">
              <a:ext uri="{FF2B5EF4-FFF2-40B4-BE49-F238E27FC236}">
                <a16:creationId xmlns:a16="http://schemas.microsoft.com/office/drawing/2014/main" id="{6632E4F6-70F7-4BEF-B9FE-65D34282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19450"/>
            <a:ext cx="1962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trim removes surrounding whitespace</a:t>
            </a:r>
          </a:p>
        </p:txBody>
      </p:sp>
      <p:sp>
        <p:nvSpPr>
          <p:cNvPr id="11" name="arrow-1">
            <a:extLst xmlns:a="http://schemas.openxmlformats.org/drawingml/2006/main">
              <a:ext uri="{FF2B5EF4-FFF2-40B4-BE49-F238E27FC236}">
                <a16:creationId xmlns:a16="http://schemas.microsoft.com/office/drawing/2014/main" id="{2BC693CD-05D8-41E9-BF28-01C7A857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1051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EA62FC90-A96B-4EE7-8EA1-2706F889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812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F0608A78-7BEC-48E9-BF0D-98053C2E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2E"/>
                </a:solidFill>
              </a:defRPr>
            </a:pPr>
            <a:r>
              <a:rPr sz="1650" b="1">
                <a:solidFill>
                  <a:srgbClr val="E4572E"/>
                </a:solidFill>
              </a:rPr>
              <a:t>GATE</a:t>
            </a:r>
          </a:p>
        </p:txBody>
      </p:sp>
      <p:sp>
        <p:nvSpPr>
          <p:cNvPr id="14" name="stage-detail-2">
            <a:extLst xmlns:a="http://schemas.openxmlformats.org/drawingml/2006/main">
              <a:ext uri="{FF2B5EF4-FFF2-40B4-BE49-F238E27FC236}">
                <a16:creationId xmlns:a16="http://schemas.microsoft.com/office/drawing/2014/main" id="{86F38DA6-F776-413E-A813-5DDA70E3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1962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initialization state limits available commands</a:t>
            </a:r>
          </a:p>
        </p:txBody>
      </p:sp>
      <p:sp>
        <p:nvSpPr>
          <p:cNvPr id="15" name="arrow-2">
            <a:extLst xmlns:a="http://schemas.openxmlformats.org/drawingml/2006/main">
              <a:ext uri="{FF2B5EF4-FFF2-40B4-BE49-F238E27FC236}">
                <a16:creationId xmlns:a16="http://schemas.microsoft.com/office/drawing/2014/main" id="{A23F0C77-C7D5-4906-9F24-3AC6B1A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051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DC738785-8EE7-4BB6-B889-6D0089B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812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A9C69643-007A-43BF-B965-F617F497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28900"/>
            <a:ext cx="1962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572E"/>
                </a:solidFill>
              </a:defRPr>
            </a:pPr>
            <a:r>
              <a:rPr sz="1650" b="1">
                <a:solidFill>
                  <a:srgbClr val="E4572E"/>
                </a:solidFill>
              </a:rPr>
              <a:t>DISPATCH</a:t>
            </a:r>
          </a:p>
        </p:txBody>
      </p:sp>
      <p:sp>
        <p:nvSpPr>
          <p:cNvPr id="18" name="stage-detail-3">
            <a:extLst xmlns:a="http://schemas.openxmlformats.org/drawingml/2006/main">
              <a:ext uri="{FF2B5EF4-FFF2-40B4-BE49-F238E27FC236}">
                <a16:creationId xmlns:a16="http://schemas.microsoft.com/office/drawing/2014/main" id="{30B01888-579E-49AA-B5D3-AD573D48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19450"/>
            <a:ext cx="1962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handlers execute validated command arguments</a:t>
            </a:r>
          </a:p>
        </p:txBody>
      </p:sp>
      <p:sp>
        <p:nvSpPr>
          <p:cNvPr id="19" name="interpreter-note">
            <a:extLst xmlns:a="http://schemas.openxmlformats.org/drawingml/2006/main">
              <a:ext uri="{FF2B5EF4-FFF2-40B4-BE49-F238E27FC236}">
                <a16:creationId xmlns:a16="http://schemas.microsoft.com/office/drawing/2014/main" id="{A3FFA750-A360-48F9-B198-2870DC00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4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Arguments are checked before process creation or screen attachment; duplicate and finished process names are handled explicitly.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181FD65C-0B3D-4C4B-93C1-368C33C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CSOPESY MO1  •  4</a:t>
            </a:r>
          </a:p>
        </p:txBody>
      </p:sp>
    </p:spTree>
    <p:extLst>
      <p:ext uri="{BB962C8B-B14F-4D97-AF65-F5344CB8AC3E}">
        <p14:creationId xmlns:p14="http://schemas.microsoft.com/office/powerpoint/2010/main" val="1474057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73529A7-565D-475B-AAB0-05AFCF02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572E"/>
                </a:solidFill>
              </a:defRPr>
            </a:pPr>
            <a:r>
              <a:rPr sz="1200" b="1">
                <a:solidFill>
                  <a:srgbClr val="E4572E"/>
                </a:solidFill>
              </a:rPr>
              <a:t>EXECUTION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886F49-684D-464A-B886-0F9DF914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Process representation</a:t>
            </a:r>
          </a:p>
        </p:txBody>
      </p:sp>
      <p:sp>
        <p:nvSpPr>
          <p:cNvPr id="3" name="rule-157">
            <a:extLst xmlns:a="http://schemas.openxmlformats.org/drawingml/2006/main">
              <a:ext uri="{FF2B5EF4-FFF2-40B4-BE49-F238E27FC236}">
                <a16:creationId xmlns:a16="http://schemas.microsoft.com/office/drawing/2014/main" id="{E488D08B-9EF0-4153-A2FA-AC633B5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cess-intro">
            <a:extLst xmlns:a="http://schemas.openxmlformats.org/drawingml/2006/main">
              <a:ext uri="{FF2B5EF4-FFF2-40B4-BE49-F238E27FC236}">
                <a16:creationId xmlns:a16="http://schemas.microsoft.com/office/drawing/2014/main" id="{C43BC3BC-2F2C-4474-AE07-6D7A9B17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Each Process owns its execution state and memory.</a:t>
            </a:r>
          </a:p>
        </p:txBody>
      </p:sp>
      <p:sp>
        <p:nvSpPr>
          <p:cNvPr id="5" name="process-column-0">
            <a:extLst xmlns:a="http://schemas.openxmlformats.org/drawingml/2006/main">
              <a:ext uri="{FF2B5EF4-FFF2-40B4-BE49-F238E27FC236}">
                <a16:creationId xmlns:a16="http://schemas.microsoft.com/office/drawing/2014/main" id="{C28C5AB4-53F9-4555-AA7F-6AB8170E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cess-label-0">
            <a:extLst xmlns:a="http://schemas.openxmlformats.org/drawingml/2006/main">
              <a:ext uri="{FF2B5EF4-FFF2-40B4-BE49-F238E27FC236}">
                <a16:creationId xmlns:a16="http://schemas.microsoft.com/office/drawing/2014/main" id="{E1025BA5-4714-4EAE-88D7-1C10D60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STATE</a:t>
            </a:r>
          </a:p>
        </p:txBody>
      </p:sp>
      <p:sp>
        <p:nvSpPr>
          <p:cNvPr id="7" name="process-body-0">
            <a:extLst xmlns:a="http://schemas.openxmlformats.org/drawingml/2006/main">
              <a:ext uri="{FF2B5EF4-FFF2-40B4-BE49-F238E27FC236}">
                <a16:creationId xmlns:a16="http://schemas.microsoft.com/office/drawing/2014/main" id="{2B8B93DF-85EA-4D76-96F5-2D73F35C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20764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READY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RUNNING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SLEEPING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FINISHED</a:t>
            </a:r>
          </a:p>
        </p:txBody>
      </p:sp>
      <p:sp>
        <p:nvSpPr>
          <p:cNvPr id="8" name="process-column-1">
            <a:extLst xmlns:a="http://schemas.openxmlformats.org/drawingml/2006/main">
              <a:ext uri="{FF2B5EF4-FFF2-40B4-BE49-F238E27FC236}">
                <a16:creationId xmlns:a16="http://schemas.microsoft.com/office/drawing/2014/main" id="{1C8D1421-76BF-4D2A-B67B-CF81DBF2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0BF6585C-DF2D-4054-B2B6-A06829C1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PROGRAM</a:t>
            </a:r>
          </a:p>
        </p:txBody>
      </p:sp>
      <p:sp>
        <p:nvSpPr>
          <p:cNvPr id="10" name="process-body-1">
            <a:extLst xmlns:a="http://schemas.openxmlformats.org/drawingml/2006/main">
              <a:ext uri="{FF2B5EF4-FFF2-40B4-BE49-F238E27FC236}">
                <a16:creationId xmlns:a16="http://schemas.microsoft.com/office/drawing/2014/main" id="{A05B2534-7624-4A71-8986-116FFE4B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20764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Flat executable stream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Expanded nested FOR loops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64-bit progress counters</a:t>
            </a:r>
          </a:p>
        </p:txBody>
      </p:sp>
      <p:sp>
        <p:nvSpPr>
          <p:cNvPr id="11" name="process-column-2">
            <a:extLst xmlns:a="http://schemas.openxmlformats.org/drawingml/2006/main">
              <a:ext uri="{FF2B5EF4-FFF2-40B4-BE49-F238E27FC236}">
                <a16:creationId xmlns:a16="http://schemas.microsoft.com/office/drawing/2014/main" id="{AFEA2246-9E45-4ADC-B4E7-B6099DBF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B799FB9E-CC28-4470-A018-111F0EE2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MEMORY</a:t>
            </a:r>
          </a:p>
        </p:txBody>
      </p:sp>
      <p:sp>
        <p:nvSpPr>
          <p:cNvPr id="13" name="process-body-2">
            <a:extLst xmlns:a="http://schemas.openxmlformats.org/drawingml/2006/main">
              <a:ext uri="{FF2B5EF4-FFF2-40B4-BE49-F238E27FC236}">
                <a16:creationId xmlns:a16="http://schemas.microsoft.com/office/drawing/2014/main" id="{654DDFA0-D7E5-4B1C-8A5C-4CF8FB2A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20764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uint16 variables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Automatic zero declaration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Saturating arithmetic</a:t>
            </a:r>
          </a:p>
        </p:txBody>
      </p:sp>
      <p:sp>
        <p:nvSpPr>
          <p:cNvPr id="14" name="process-column-3">
            <a:extLst xmlns:a="http://schemas.openxmlformats.org/drawingml/2006/main">
              <a:ext uri="{FF2B5EF4-FFF2-40B4-BE49-F238E27FC236}">
                <a16:creationId xmlns:a16="http://schemas.microsoft.com/office/drawing/2014/main" id="{CC0DC30F-1760-4452-8952-8C95052E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495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4C62C2D7-1376-48DC-95A0-879EA6EC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0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572E"/>
                </a:solidFill>
              </a:defRPr>
            </a:pPr>
            <a:r>
              <a:rPr sz="1350" b="1">
                <a:solidFill>
                  <a:srgbClr val="E4572E"/>
                </a:solidFill>
              </a:rPr>
              <a:t>OUTPUT</a:t>
            </a:r>
          </a:p>
        </p:txBody>
      </p:sp>
      <p:sp>
        <p:nvSpPr>
          <p:cNvPr id="16" name="process-body-3">
            <a:extLst xmlns:a="http://schemas.openxmlformats.org/drawingml/2006/main">
              <a:ext uri="{FF2B5EF4-FFF2-40B4-BE49-F238E27FC236}">
                <a16:creationId xmlns:a16="http://schemas.microsoft.com/office/drawing/2014/main" id="{6729A124-CC65-4486-9E0F-841210A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52800"/>
            <a:ext cx="20764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Timestamped PRINT logs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Optional variable value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Visible through process-smi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0F6D86E1-8CB2-4867-9C48-C990CBB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CSOPESY MO1  •  5</a:t>
            </a:r>
          </a:p>
        </p:txBody>
      </p:sp>
    </p:spTree>
    <p:extLst>
      <p:ext uri="{BB962C8B-B14F-4D97-AF65-F5344CB8AC3E}">
        <p14:creationId xmlns:p14="http://schemas.microsoft.com/office/powerpoint/2010/main" val="63419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FB62C64-B1C0-4E59-BC99-DF9A6FEB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572E"/>
                </a:solidFill>
              </a:defRPr>
            </a:pPr>
            <a:r>
              <a:rPr sz="1200" b="1">
                <a:solidFill>
                  <a:srgbClr val="E4572E"/>
                </a:solidFill>
              </a:rPr>
              <a:t>REAL-TIME CORE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D250DC-37FB-4C8A-94A9-E09DBE0F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Scheduler implementation</a:t>
            </a:r>
          </a:p>
        </p:txBody>
      </p:sp>
      <p:sp>
        <p:nvSpPr>
          <p:cNvPr id="3" name="rule-157">
            <a:extLst xmlns:a="http://schemas.openxmlformats.org/drawingml/2006/main">
              <a:ext uri="{FF2B5EF4-FFF2-40B4-BE49-F238E27FC236}">
                <a16:creationId xmlns:a16="http://schemas.microsoft.com/office/drawing/2014/main" id="{54C3A325-900D-4498-967D-876F6A65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heduler-step-0">
            <a:extLst xmlns:a="http://schemas.openxmlformats.org/drawingml/2006/main">
              <a:ext uri="{FF2B5EF4-FFF2-40B4-BE49-F238E27FC236}">
                <a16:creationId xmlns:a16="http://schemas.microsoft.com/office/drawing/2014/main" id="{6BC48523-30E6-4159-8ADB-B380EF9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heduler-step-text-0">
            <a:extLst xmlns:a="http://schemas.openxmlformats.org/drawingml/2006/main">
              <a:ext uri="{FF2B5EF4-FFF2-40B4-BE49-F238E27FC236}">
                <a16:creationId xmlns:a16="http://schemas.microsoft.com/office/drawing/2014/main" id="{BE80CAC3-C6FF-4F65-9A1F-3EEE18C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Wake sleepers</a:t>
            </a:r>
          </a:p>
        </p:txBody>
      </p:sp>
      <p:sp>
        <p:nvSpPr>
          <p:cNvPr id="6" name="scheduler-arrow-0">
            <a:extLst xmlns:a="http://schemas.openxmlformats.org/drawingml/2006/main">
              <a:ext uri="{FF2B5EF4-FFF2-40B4-BE49-F238E27FC236}">
                <a16:creationId xmlns:a16="http://schemas.microsoft.com/office/drawing/2014/main" id="{31B4D5A1-88F7-4AB7-B0DE-F5DC4650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860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7" name="scheduler-step-1">
            <a:extLst xmlns:a="http://schemas.openxmlformats.org/drawingml/2006/main">
              <a:ext uri="{FF2B5EF4-FFF2-40B4-BE49-F238E27FC236}">
                <a16:creationId xmlns:a16="http://schemas.microsoft.com/office/drawing/2014/main" id="{BA20F46D-C46F-4F72-9FB9-4857119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431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heduler-step-text-1">
            <a:extLst xmlns:a="http://schemas.openxmlformats.org/drawingml/2006/main">
              <a:ext uri="{FF2B5EF4-FFF2-40B4-BE49-F238E27FC236}">
                <a16:creationId xmlns:a16="http://schemas.microsoft.com/office/drawing/2014/main" id="{1224707B-5245-4EA0-8070-74A6FC61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Generate batch</a:t>
            </a:r>
          </a:p>
        </p:txBody>
      </p:sp>
      <p:sp>
        <p:nvSpPr>
          <p:cNvPr id="9" name="scheduler-arrow-1">
            <a:extLst xmlns:a="http://schemas.openxmlformats.org/drawingml/2006/main">
              <a:ext uri="{FF2B5EF4-FFF2-40B4-BE49-F238E27FC236}">
                <a16:creationId xmlns:a16="http://schemas.microsoft.com/office/drawing/2014/main" id="{9A98DA42-F27E-4D96-96F1-029A6C6B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60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0" name="scheduler-step-2">
            <a:extLst xmlns:a="http://schemas.openxmlformats.org/drawingml/2006/main">
              <a:ext uri="{FF2B5EF4-FFF2-40B4-BE49-F238E27FC236}">
                <a16:creationId xmlns:a16="http://schemas.microsoft.com/office/drawing/2014/main" id="{7A7A1767-6F27-43A4-8957-008E8C1F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heduler-step-text-2">
            <a:extLst xmlns:a="http://schemas.openxmlformats.org/drawingml/2006/main">
              <a:ext uri="{FF2B5EF4-FFF2-40B4-BE49-F238E27FC236}">
                <a16:creationId xmlns:a16="http://schemas.microsoft.com/office/drawing/2014/main" id="{C9E12A9F-BA66-4235-8D5D-AD0A17D8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193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Dispatch cores</a:t>
            </a:r>
          </a:p>
        </p:txBody>
      </p:sp>
      <p:sp>
        <p:nvSpPr>
          <p:cNvPr id="12" name="scheduler-arrow-2">
            <a:extLst xmlns:a="http://schemas.openxmlformats.org/drawingml/2006/main">
              <a:ext uri="{FF2B5EF4-FFF2-40B4-BE49-F238E27FC236}">
                <a16:creationId xmlns:a16="http://schemas.microsoft.com/office/drawing/2014/main" id="{A48A55C1-C964-48BD-A4AD-E01FAA0D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3" name="scheduler-step-3">
            <a:extLst xmlns:a="http://schemas.openxmlformats.org/drawingml/2006/main">
              <a:ext uri="{FF2B5EF4-FFF2-40B4-BE49-F238E27FC236}">
                <a16:creationId xmlns:a16="http://schemas.microsoft.com/office/drawing/2014/main" id="{69FB35FB-4E9C-467F-87B4-28F00942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heduler-step-text-3">
            <a:extLst xmlns:a="http://schemas.openxmlformats.org/drawingml/2006/main">
              <a:ext uri="{FF2B5EF4-FFF2-40B4-BE49-F238E27FC236}">
                <a16:creationId xmlns:a16="http://schemas.microsoft.com/office/drawing/2014/main" id="{67AA002E-B919-4AED-8FF1-1E41B4FA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Execute tick</a:t>
            </a:r>
          </a:p>
        </p:txBody>
      </p:sp>
      <p:sp>
        <p:nvSpPr>
          <p:cNvPr id="15" name="scheduler-arrow-3">
            <a:extLst xmlns:a="http://schemas.openxmlformats.org/drawingml/2006/main">
              <a:ext uri="{FF2B5EF4-FFF2-40B4-BE49-F238E27FC236}">
                <a16:creationId xmlns:a16="http://schemas.microsoft.com/office/drawing/2014/main" id="{2E236B0A-8B67-4821-98ED-A9CFB026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6" name="scheduler-step-4">
            <a:extLst xmlns:a="http://schemas.openxmlformats.org/drawingml/2006/main">
              <a:ext uri="{FF2B5EF4-FFF2-40B4-BE49-F238E27FC236}">
                <a16:creationId xmlns:a16="http://schemas.microsoft.com/office/drawing/2014/main" id="{F0CB853D-1088-446E-B070-4A60FE6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heduler-step-text-4">
            <a:extLst xmlns:a="http://schemas.openxmlformats.org/drawingml/2006/main">
              <a:ext uri="{FF2B5EF4-FFF2-40B4-BE49-F238E27FC236}">
                <a16:creationId xmlns:a16="http://schemas.microsoft.com/office/drawing/2014/main" id="{FFEB1762-1639-4912-B6B2-C4426E86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193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Release / preempt</a:t>
            </a:r>
          </a:p>
        </p:txBody>
      </p:sp>
      <p:sp>
        <p:nvSpPr>
          <p:cNvPr id="18" name="scheduler-arrow-4">
            <a:extLst xmlns:a="http://schemas.openxmlformats.org/drawingml/2006/main">
              <a:ext uri="{FF2B5EF4-FFF2-40B4-BE49-F238E27FC236}">
                <a16:creationId xmlns:a16="http://schemas.microsoft.com/office/drawing/2014/main" id="{59B6F48C-76BE-4E64-BD47-CD06B586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8605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9" name="scheduler-step-5">
            <a:extLst xmlns:a="http://schemas.openxmlformats.org/drawingml/2006/main">
              <a:ext uri="{FF2B5EF4-FFF2-40B4-BE49-F238E27FC236}">
                <a16:creationId xmlns:a16="http://schemas.microsoft.com/office/drawing/2014/main" id="{87140C33-902E-4D9F-95E3-55F82E60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43150"/>
            <a:ext cx="1562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heduler-step-text-5">
            <a:extLst xmlns:a="http://schemas.openxmlformats.org/drawingml/2006/main">
              <a:ext uri="{FF2B5EF4-FFF2-40B4-BE49-F238E27FC236}">
                <a16:creationId xmlns:a16="http://schemas.microsoft.com/office/drawing/2014/main" id="{7A4BED3A-AA09-425E-98E2-766BF6C5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193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Redispatch</a:t>
            </a:r>
          </a:p>
        </p:txBody>
      </p:sp>
      <p:sp>
        <p:nvSpPr>
          <p:cNvPr id="21" name="fcfs-panel">
            <a:extLst xmlns:a="http://schemas.openxmlformats.org/drawingml/2006/main">
              <a:ext uri="{FF2B5EF4-FFF2-40B4-BE49-F238E27FC236}">
                <a16:creationId xmlns:a16="http://schemas.microsoft.com/office/drawing/2014/main" id="{7548C562-3598-4D43-AFAE-4D01A1CC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4381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cfs-title">
            <a:extLst xmlns:a="http://schemas.openxmlformats.org/drawingml/2006/main">
              <a:ext uri="{FF2B5EF4-FFF2-40B4-BE49-F238E27FC236}">
                <a16:creationId xmlns:a16="http://schemas.microsoft.com/office/drawing/2014/main" id="{A8F4F57B-08F5-4F6E-8C50-F2A90795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4572E"/>
                </a:solidFill>
              </a:defRPr>
            </a:pPr>
            <a:r>
              <a:rPr sz="2025" b="1">
                <a:solidFill>
                  <a:srgbClr val="E4572E"/>
                </a:solidFill>
              </a:rPr>
              <a:t>FCFS</a:t>
            </a:r>
          </a:p>
        </p:txBody>
      </p:sp>
      <p:sp>
        <p:nvSpPr>
          <p:cNvPr id="23" name="fcfs-body">
            <a:extLst xmlns:a="http://schemas.openxmlformats.org/drawingml/2006/main">
              <a:ext uri="{FF2B5EF4-FFF2-40B4-BE49-F238E27FC236}">
                <a16:creationId xmlns:a16="http://schemas.microsoft.com/office/drawing/2014/main" id="{BEF88E8D-0A88-4CFE-8F18-89721897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Non-preemptive. A process retains its core until completion or SLEEP.</a:t>
            </a:r>
          </a:p>
        </p:txBody>
      </p:sp>
      <p:sp>
        <p:nvSpPr>
          <p:cNvPr id="24" name="rr-panel">
            <a:extLst xmlns:a="http://schemas.openxmlformats.org/drawingml/2006/main">
              <a:ext uri="{FF2B5EF4-FFF2-40B4-BE49-F238E27FC236}">
                <a16:creationId xmlns:a16="http://schemas.microsoft.com/office/drawing/2014/main" id="{39DA43E7-C973-48D5-B308-54A9000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4381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r-title">
            <a:extLst xmlns:a="http://schemas.openxmlformats.org/drawingml/2006/main">
              <a:ext uri="{FF2B5EF4-FFF2-40B4-BE49-F238E27FC236}">
                <a16:creationId xmlns:a16="http://schemas.microsoft.com/office/drawing/2014/main" id="{E192223B-9178-4839-86E7-87BC5422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24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4572E"/>
                </a:solidFill>
              </a:defRPr>
            </a:pPr>
            <a:r>
              <a:rPr sz="2025" b="1">
                <a:solidFill>
                  <a:srgbClr val="E4572E"/>
                </a:solidFill>
              </a:rPr>
              <a:t>ROUND ROBIN</a:t>
            </a:r>
          </a:p>
        </p:txBody>
      </p:sp>
      <p:sp>
        <p:nvSpPr>
          <p:cNvPr id="26" name="rr-body">
            <a:extLst xmlns:a="http://schemas.openxmlformats.org/drawingml/2006/main">
              <a:ext uri="{FF2B5EF4-FFF2-40B4-BE49-F238E27FC236}">
                <a16:creationId xmlns:a16="http://schemas.microsoft.com/office/drawing/2014/main" id="{2ED9E620-926A-414A-B8EA-AA9B15BB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006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Preemptive. Quantum counts every occupied tick, including busy-wait delay.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FE2532DC-F1AD-43AC-8F9A-726FE274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CSOPESY MO1  •  6</a:t>
            </a:r>
          </a:p>
        </p:txBody>
      </p:sp>
    </p:spTree>
    <p:extLst>
      <p:ext uri="{BB962C8B-B14F-4D97-AF65-F5344CB8AC3E}">
        <p14:creationId xmlns:p14="http://schemas.microsoft.com/office/powerpoint/2010/main" val="874185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02A77D9-E293-4079-A8DE-7AC71850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572E"/>
                </a:solidFill>
              </a:defRPr>
            </a:pPr>
            <a:r>
              <a:rPr sz="1200" b="1">
                <a:solidFill>
                  <a:srgbClr val="E4572E"/>
                </a:solidFill>
              </a:rPr>
              <a:t>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8AF0B4-0C15-4F6A-AB2B-3E3DE098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Verification and robustness</a:t>
            </a:r>
          </a:p>
        </p:txBody>
      </p:sp>
      <p:sp>
        <p:nvSpPr>
          <p:cNvPr id="3" name="rule-157">
            <a:extLst xmlns:a="http://schemas.openxmlformats.org/drawingml/2006/main">
              <a:ext uri="{FF2B5EF4-FFF2-40B4-BE49-F238E27FC236}">
                <a16:creationId xmlns:a16="http://schemas.microsoft.com/office/drawing/2014/main" id="{C8B3E5EF-8EEE-45DE-8E01-580D4AF3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1">
            <a:extLst xmlns:a="http://schemas.openxmlformats.org/drawingml/2006/main">
              <a:ext uri="{FF2B5EF4-FFF2-40B4-BE49-F238E27FC236}">
                <a16:creationId xmlns:a16="http://schemas.microsoft.com/office/drawing/2014/main" id="{4A86C068-DCB4-426E-9C61-9D1033B2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E4572E"/>
                </a:solidFill>
              </a:defRPr>
            </a:pPr>
            <a:r>
              <a:rPr sz="4950" b="1">
                <a:solidFill>
                  <a:srgbClr val="E4572E"/>
                </a:solidFill>
              </a:rPr>
              <a:t>100%</a:t>
            </a:r>
          </a:p>
        </p:txBody>
      </p:sp>
      <p:sp>
        <p:nvSpPr>
          <p:cNvPr id="5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E2CB72F2-7B55-4D07-89E2-3AF05986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simulated utilization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with runnable backlog</a:t>
            </a:r>
          </a:p>
        </p:txBody>
      </p:sp>
      <p:sp>
        <p:nvSpPr>
          <p:cNvPr id="6" name="metric-2">
            <a:extLst xmlns:a="http://schemas.openxmlformats.org/drawingml/2006/main">
              <a:ext uri="{FF2B5EF4-FFF2-40B4-BE49-F238E27FC236}">
                <a16:creationId xmlns:a16="http://schemas.microsoft.com/office/drawing/2014/main" id="{84702676-D1E4-4871-8067-A64A2678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1 / 2 / 4 / 8</a:t>
            </a:r>
          </a:p>
        </p:txBody>
      </p:sp>
      <p:sp>
        <p:nvSpPr>
          <p:cNvPr id="7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B705677A-AD97-420B-908A-DF316D62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CPU configurations tested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without recompilation</a:t>
            </a:r>
          </a:p>
        </p:txBody>
      </p:sp>
      <p:sp>
        <p:nvSpPr>
          <p:cNvPr id="8" name="metric-3">
            <a:extLst xmlns:a="http://schemas.openxmlformats.org/drawingml/2006/main">
              <a:ext uri="{FF2B5EF4-FFF2-40B4-BE49-F238E27FC236}">
                <a16:creationId xmlns:a16="http://schemas.microsoft.com/office/drawing/2014/main" id="{D71F9855-C93E-4F12-8239-521E9A76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FCFS + RR</a:t>
            </a:r>
          </a:p>
        </p:txBody>
      </p:sp>
      <p:sp>
        <p:nvSpPr>
          <p:cNvPr id="9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54B54FD1-DB6A-4002-A229-4F332603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scheduler algorithms covered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by black-box tests</a:t>
            </a:r>
          </a:p>
        </p:txBody>
      </p:sp>
      <p:sp>
        <p:nvSpPr>
          <p:cNvPr id="10" name="rule-432">
            <a:extLst xmlns:a="http://schemas.openxmlformats.org/drawingml/2006/main">
              <a:ext uri="{FF2B5EF4-FFF2-40B4-BE49-F238E27FC236}">
                <a16:creationId xmlns:a16="http://schemas.microsoft.com/office/drawing/2014/main" id="{4DBA803E-BF70-4FC8-9F9F-53726CC8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0">
            <a:extLst xmlns:a="http://schemas.openxmlformats.org/drawingml/2006/main">
              <a:ext uri="{FF2B5EF4-FFF2-40B4-BE49-F238E27FC236}">
                <a16:creationId xmlns:a16="http://schemas.microsoft.com/office/drawing/2014/main" id="{0FB94EFA-42F8-41FA-A3FA-CAE1D5DE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•</a:t>
            </a:r>
          </a:p>
        </p:txBody>
      </p:sp>
      <p:sp>
        <p:nvSpPr>
          <p:cNvPr id="12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FBF0049-8012-4793-AB16-A2393A7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14850"/>
            <a:ext cx="929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Debug and Release CTest suites verify instruction and scheduler semantics.</a:t>
            </a:r>
          </a:p>
        </p:txBody>
      </p:sp>
      <p:sp>
        <p:nvSpPr>
          <p:cNvPr id="13" name="bullet-1">
            <a:extLst xmlns:a="http://schemas.openxmlformats.org/drawingml/2006/main">
              <a:ext uri="{FF2B5EF4-FFF2-40B4-BE49-F238E27FC236}">
                <a16:creationId xmlns:a16="http://schemas.microsoft.com/office/drawing/2014/main" id="{FDF6AC26-F5AF-4A38-B193-086B5438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•</a:t>
            </a:r>
          </a:p>
        </p:txBody>
      </p:sp>
      <p:sp>
        <p:nvSpPr>
          <p:cNvPr id="14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1161248B-1B86-49A9-A86B-A8996DCD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05400"/>
            <a:ext cx="929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PowerShell black-box tests modify only config.txt and execute the built binary.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20A7E8B3-C156-4B7C-AEB6-B747256D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95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</a:defRPr>
            </a:pPr>
            <a:r>
              <a:rPr sz="1950" b="1">
                <a:solidFill>
                  <a:srgbClr val="E4572E"/>
                </a:solidFill>
              </a:rPr>
              <a:t>•</a:t>
            </a:r>
          </a:p>
        </p:txBody>
      </p:sp>
      <p:sp>
        <p:nvSpPr>
          <p:cNvPr id="16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D0A59DA-B443-4D6A-A32D-36A4B50B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95950"/>
            <a:ext cx="929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CMake and GNU Make builds are both maintained for Windows and Unix-like systems.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F99C3412-3027-4ECC-A9D1-D3324A46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579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CSOPESY MO1  •  7</a:t>
            </a:r>
          </a:p>
        </p:txBody>
      </p:sp>
    </p:spTree>
    <p:extLst>
      <p:ext uri="{BB962C8B-B14F-4D97-AF65-F5344CB8AC3E}">
        <p14:creationId xmlns:p14="http://schemas.microsoft.com/office/powerpoint/2010/main" val="1806329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2026-06-25T13:14:52.3870000Z</dcterms:created>
  <dcterms:modified xsi:type="dcterms:W3CDTF">2026-06-25T13:14:52.3870000Z</dcterms:modified>
</coreProperties>
</file>